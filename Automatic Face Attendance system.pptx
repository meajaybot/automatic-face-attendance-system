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League Spartan" charset="1" panose="00000800000000000000"/>
      <p:regular r:id="rId15"/>
    </p:embeddedFont>
    <p:embeddedFont>
      <p:font typeface="Roboto" charset="1" panose="02000000000000000000"/>
      <p:regular r:id="rId16"/>
    </p:embeddedFont>
    <p:embeddedFont>
      <p:font typeface="Poppins" charset="1" panose="00000500000000000000"/>
      <p:regular r:id="rId17"/>
    </p:embeddedFont>
    <p:embeddedFont>
      <p:font typeface="Roboto Bold" charset="1" panose="02000000000000000000"/>
      <p:regular r:id="rId18"/>
    </p:embeddedFont>
    <p:embeddedFont>
      <p:font typeface="Archivo Black" charset="1" panose="020B0A03020202020B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568393" y="3637227"/>
            <a:ext cx="10466581" cy="2907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29"/>
              </a:lnSpc>
            </a:pPr>
            <a:r>
              <a:rPr lang="en-US" b="true" sz="5520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AUTOMATIC FACE RECOGNITION ATTENDANCE SYSTEM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-1130300" y="4057750"/>
            <a:ext cx="3086100" cy="2171499"/>
            <a:chOff x="0" y="0"/>
            <a:chExt cx="812800" cy="57191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571917"/>
            </a:xfrm>
            <a:custGeom>
              <a:avLst/>
              <a:gdLst/>
              <a:ahLst/>
              <a:cxnLst/>
              <a:rect r="r" b="b" t="t" l="l"/>
              <a:pathLst>
                <a:path h="571917" w="812800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467343" y="4057750"/>
            <a:ext cx="3086100" cy="2171499"/>
            <a:chOff x="0" y="0"/>
            <a:chExt cx="812800" cy="57191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571917"/>
            </a:xfrm>
            <a:custGeom>
              <a:avLst/>
              <a:gdLst/>
              <a:ahLst/>
              <a:cxnLst/>
              <a:rect r="r" b="b" t="t" l="l"/>
              <a:pathLst>
                <a:path h="571917" w="812800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137400"/>
            <a:ext cx="6792707" cy="10287000"/>
            <a:chOff x="0" y="0"/>
            <a:chExt cx="1789026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89026" cy="2709333"/>
            </a:xfrm>
            <a:custGeom>
              <a:avLst/>
              <a:gdLst/>
              <a:ahLst/>
              <a:cxnLst/>
              <a:rect r="r" b="b" t="t" l="l"/>
              <a:pathLst>
                <a:path h="2709333" w="1789026">
                  <a:moveTo>
                    <a:pt x="0" y="0"/>
                  </a:moveTo>
                  <a:lnTo>
                    <a:pt x="1789026" y="0"/>
                  </a:lnTo>
                  <a:lnTo>
                    <a:pt x="178902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89026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446818" y="8630505"/>
            <a:ext cx="897167" cy="2183545"/>
            <a:chOff x="0" y="0"/>
            <a:chExt cx="236291" cy="575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6291" cy="575090"/>
            </a:xfrm>
            <a:custGeom>
              <a:avLst/>
              <a:gdLst/>
              <a:ahLst/>
              <a:cxnLst/>
              <a:rect r="r" b="b" t="t" l="l"/>
              <a:pathLst>
                <a:path h="575090" w="236291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456945"/>
                  </a:lnTo>
                  <a:cubicBezTo>
                    <a:pt x="236291" y="488279"/>
                    <a:pt x="223843" y="518330"/>
                    <a:pt x="201687" y="540486"/>
                  </a:cubicBezTo>
                  <a:cubicBezTo>
                    <a:pt x="179530" y="562643"/>
                    <a:pt x="149480" y="575090"/>
                    <a:pt x="118145" y="575090"/>
                  </a:cubicBezTo>
                  <a:lnTo>
                    <a:pt x="118145" y="575090"/>
                  </a:lnTo>
                  <a:cubicBezTo>
                    <a:pt x="86811" y="575090"/>
                    <a:pt x="56761" y="562643"/>
                    <a:pt x="34604" y="540486"/>
                  </a:cubicBezTo>
                  <a:cubicBezTo>
                    <a:pt x="12447" y="518330"/>
                    <a:pt x="0" y="488279"/>
                    <a:pt x="0" y="456945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36291" cy="6227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7122868" y="2456939"/>
            <a:ext cx="10501778" cy="4738927"/>
          </a:xfrm>
          <a:custGeom>
            <a:avLst/>
            <a:gdLst/>
            <a:ahLst/>
            <a:cxnLst/>
            <a:rect r="r" b="b" t="t" l="l"/>
            <a:pathLst>
              <a:path h="4738927" w="10501778">
                <a:moveTo>
                  <a:pt x="0" y="0"/>
                </a:moveTo>
                <a:lnTo>
                  <a:pt x="10501778" y="0"/>
                </a:lnTo>
                <a:lnTo>
                  <a:pt x="10501778" y="4738927"/>
                </a:lnTo>
                <a:lnTo>
                  <a:pt x="0" y="47389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1" t="0" r="-51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09411" y="1662134"/>
            <a:ext cx="4243380" cy="79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1"/>
              </a:lnSpc>
            </a:pPr>
            <a:r>
              <a:rPr lang="en-US" sz="470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09411" y="942975"/>
            <a:ext cx="4842085" cy="770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72"/>
              </a:lnSpc>
            </a:pPr>
            <a:r>
              <a:rPr lang="en-US" sz="455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 THIS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09411" y="3004100"/>
            <a:ext cx="5634574" cy="1030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6"/>
              </a:lnSpc>
              <a:spcBef>
                <a:spcPct val="0"/>
              </a:spcBef>
            </a:pPr>
            <a:r>
              <a:rPr lang="en-US" sz="29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It provides automatic attendance 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09411" y="4250319"/>
            <a:ext cx="5634574" cy="1030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6"/>
              </a:lnSpc>
              <a:spcBef>
                <a:spcPct val="0"/>
              </a:spcBef>
            </a:pPr>
            <a:r>
              <a:rPr lang="en-US" sz="29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Using Face Recognition (MTCNN + FaceNet+Opencv)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09411" y="5630787"/>
            <a:ext cx="5634574" cy="2573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6"/>
              </a:lnSpc>
              <a:spcBef>
                <a:spcPct val="0"/>
              </a:spcBef>
            </a:pPr>
            <a:r>
              <a:rPr lang="en-US" sz="29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system detects faces, recognizes registered individuals, and records attendance without manual input.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816593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353287" y="2543752"/>
            <a:ext cx="14781331" cy="3970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82665" indent="-491332" lvl="1">
              <a:lnSpc>
                <a:spcPts val="6372"/>
              </a:lnSpc>
              <a:buFont typeface="Arial"/>
              <a:buChar char="•"/>
            </a:pPr>
            <a:r>
              <a:rPr lang="en-US" sz="455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CAPTURE ATTENDANCE AUTOMATICALLY USING FACE RECOGNITION</a:t>
            </a:r>
          </a:p>
          <a:p>
            <a:pPr algn="l" marL="982665" indent="-491332" lvl="1">
              <a:lnSpc>
                <a:spcPts val="6372"/>
              </a:lnSpc>
              <a:buFont typeface="Arial"/>
              <a:buChar char="•"/>
            </a:pPr>
            <a:r>
              <a:rPr lang="en-US" sz="455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IDENTIFY STUDENTS/EMPLOYEES IN REAL-TIME</a:t>
            </a:r>
          </a:p>
          <a:p>
            <a:pPr algn="l" marL="982665" indent="-491332" lvl="1">
              <a:lnSpc>
                <a:spcPts val="6372"/>
              </a:lnSpc>
              <a:buFont typeface="Arial"/>
              <a:buChar char="•"/>
            </a:pPr>
            <a:r>
              <a:rPr lang="en-US" sz="455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GENERATE ATTENDANCE REPORTS (DAILY, MONTHLY, PER STUDENT)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90419" y="528516"/>
            <a:ext cx="4421127" cy="91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571"/>
              </a:lnSpc>
            </a:pPr>
            <a:r>
              <a:rPr lang="en-US" b="true" sz="540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OBJECTIVES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816593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353287" y="2543752"/>
            <a:ext cx="14781331" cy="7171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982665" indent="-491332" lvl="1">
              <a:lnSpc>
                <a:spcPts val="6372"/>
              </a:lnSpc>
              <a:buFont typeface="Arial"/>
              <a:buChar char="•"/>
            </a:pPr>
            <a:r>
              <a:rPr lang="en-US" b="true" sz="455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PYTHON – </a:t>
            </a:r>
            <a:r>
              <a:rPr lang="en-US" sz="4551" u="sng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MAIN PROGRAMMING LANGUAGE</a:t>
            </a:r>
          </a:p>
          <a:p>
            <a:pPr algn="just" marL="982665" indent="-491332" lvl="1">
              <a:lnSpc>
                <a:spcPts val="6372"/>
              </a:lnSpc>
              <a:buFont typeface="Arial"/>
              <a:buChar char="•"/>
            </a:pPr>
            <a:r>
              <a:rPr lang="en-US" b="true" sz="455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OPENCV – </a:t>
            </a:r>
            <a:r>
              <a:rPr lang="en-US" sz="4551" u="sng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CAPTURE VIDEO AND PROCESS IMAGES</a:t>
            </a:r>
          </a:p>
          <a:p>
            <a:pPr algn="just" marL="982665" indent="-491332" lvl="1">
              <a:lnSpc>
                <a:spcPts val="6372"/>
              </a:lnSpc>
              <a:buFont typeface="Arial"/>
              <a:buChar char="•"/>
            </a:pPr>
            <a:r>
              <a:rPr lang="en-US" b="true" sz="455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FACENET(INCEPTIONRESNETV1)</a:t>
            </a:r>
            <a:r>
              <a:rPr lang="en-US" sz="455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–</a:t>
            </a:r>
            <a:r>
              <a:rPr lang="en-US" sz="4551" u="sng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PRE-TRAINED MODEL FOR FACE ENCODING</a:t>
            </a:r>
          </a:p>
          <a:p>
            <a:pPr algn="just" marL="982665" indent="-491332" lvl="1">
              <a:lnSpc>
                <a:spcPts val="6372"/>
              </a:lnSpc>
              <a:buFont typeface="Arial"/>
              <a:buChar char="•"/>
            </a:pPr>
            <a:r>
              <a:rPr lang="en-US" b="true" sz="455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STREAMLIT</a:t>
            </a:r>
            <a:r>
              <a:rPr lang="en-US" sz="455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– </a:t>
            </a:r>
            <a:r>
              <a:rPr lang="en-US" sz="4551" u="sng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WEB INTERFACE FOR ENROLLMENT AND REPORTS</a:t>
            </a:r>
          </a:p>
          <a:p>
            <a:pPr algn="just" marL="982665" indent="-491332" lvl="1">
              <a:lnSpc>
                <a:spcPts val="6372"/>
              </a:lnSpc>
              <a:buFont typeface="Arial"/>
              <a:buChar char="•"/>
            </a:pPr>
            <a:r>
              <a:rPr lang="en-US" b="true" sz="455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PANDAS/MATPLOTLIB</a:t>
            </a:r>
            <a:r>
              <a:rPr lang="en-US" sz="455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–</a:t>
            </a:r>
            <a:r>
              <a:rPr lang="en-US" sz="4551" u="sng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 HANDLING AND CHARTS</a:t>
            </a:r>
          </a:p>
          <a:p>
            <a:pPr algn="r">
              <a:lnSpc>
                <a:spcPts val="6372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4053401" y="923925"/>
            <a:ext cx="11856899" cy="91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71"/>
              </a:lnSpc>
            </a:pPr>
            <a:r>
              <a:rPr lang="en-US" b="true" sz="540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TOOLS &amp; TECHNOLOGIES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816593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1755120"/>
            <a:ext cx="3108329" cy="1640509"/>
            <a:chOff x="0" y="0"/>
            <a:chExt cx="980902" cy="51769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80902" cy="517699"/>
            </a:xfrm>
            <a:custGeom>
              <a:avLst/>
              <a:gdLst/>
              <a:ahLst/>
              <a:cxnLst/>
              <a:rect r="r" b="b" t="t" l="l"/>
              <a:pathLst>
                <a:path h="517699" w="980902">
                  <a:moveTo>
                    <a:pt x="48647" y="0"/>
                  </a:moveTo>
                  <a:lnTo>
                    <a:pt x="932255" y="0"/>
                  </a:lnTo>
                  <a:cubicBezTo>
                    <a:pt x="959122" y="0"/>
                    <a:pt x="980902" y="21780"/>
                    <a:pt x="980902" y="48647"/>
                  </a:cubicBezTo>
                  <a:lnTo>
                    <a:pt x="980902" y="469052"/>
                  </a:lnTo>
                  <a:cubicBezTo>
                    <a:pt x="980902" y="481954"/>
                    <a:pt x="975776" y="494327"/>
                    <a:pt x="966653" y="503450"/>
                  </a:cubicBezTo>
                  <a:cubicBezTo>
                    <a:pt x="957530" y="512573"/>
                    <a:pt x="945157" y="517699"/>
                    <a:pt x="932255" y="517699"/>
                  </a:cubicBezTo>
                  <a:lnTo>
                    <a:pt x="48647" y="517699"/>
                  </a:lnTo>
                  <a:cubicBezTo>
                    <a:pt x="35745" y="517699"/>
                    <a:pt x="23371" y="512573"/>
                    <a:pt x="14248" y="503450"/>
                  </a:cubicBezTo>
                  <a:cubicBezTo>
                    <a:pt x="5125" y="494327"/>
                    <a:pt x="0" y="481954"/>
                    <a:pt x="0" y="469052"/>
                  </a:cubicBezTo>
                  <a:lnTo>
                    <a:pt x="0" y="48647"/>
                  </a:lnTo>
                  <a:cubicBezTo>
                    <a:pt x="0" y="35745"/>
                    <a:pt x="5125" y="23371"/>
                    <a:pt x="14248" y="14248"/>
                  </a:cubicBezTo>
                  <a:cubicBezTo>
                    <a:pt x="23371" y="5125"/>
                    <a:pt x="35745" y="0"/>
                    <a:pt x="48647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0"/>
              <a:ext cx="980902" cy="6129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79"/>
                </a:lnSpc>
              </a:pPr>
              <a:r>
                <a:rPr lang="en-US" sz="4199">
                  <a:solidFill>
                    <a:srgbClr val="00000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Enroll Student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-5400000">
            <a:off x="2083961" y="3477477"/>
            <a:ext cx="927617" cy="763920"/>
            <a:chOff x="0" y="0"/>
            <a:chExt cx="647700" cy="533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47700" cy="533400"/>
            </a:xfrm>
            <a:custGeom>
              <a:avLst/>
              <a:gdLst/>
              <a:ahLst/>
              <a:cxnLst/>
              <a:rect r="r" b="b" t="t" l="l"/>
              <a:pathLst>
                <a:path h="533400" w="6477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20650" y="117475"/>
              <a:ext cx="527050" cy="250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4404619" y="516362"/>
            <a:ext cx="11856899" cy="91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71"/>
              </a:lnSpc>
            </a:pPr>
            <a:r>
              <a:rPr lang="en-US" b="true" sz="540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SYSTEM ARCHITECTURE 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302898" y="4323246"/>
            <a:ext cx="4559934" cy="1640509"/>
            <a:chOff x="0" y="0"/>
            <a:chExt cx="1438987" cy="51769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38987" cy="517699"/>
            </a:xfrm>
            <a:custGeom>
              <a:avLst/>
              <a:gdLst/>
              <a:ahLst/>
              <a:cxnLst/>
              <a:rect r="r" b="b" t="t" l="l"/>
              <a:pathLst>
                <a:path h="517699" w="1438987">
                  <a:moveTo>
                    <a:pt x="33160" y="0"/>
                  </a:moveTo>
                  <a:lnTo>
                    <a:pt x="1405827" y="0"/>
                  </a:lnTo>
                  <a:cubicBezTo>
                    <a:pt x="1414622" y="0"/>
                    <a:pt x="1423056" y="3494"/>
                    <a:pt x="1429275" y="9712"/>
                  </a:cubicBezTo>
                  <a:cubicBezTo>
                    <a:pt x="1435494" y="15931"/>
                    <a:pt x="1438987" y="24366"/>
                    <a:pt x="1438987" y="33160"/>
                  </a:cubicBezTo>
                  <a:lnTo>
                    <a:pt x="1438987" y="484538"/>
                  </a:lnTo>
                  <a:cubicBezTo>
                    <a:pt x="1438987" y="493333"/>
                    <a:pt x="1435494" y="501767"/>
                    <a:pt x="1429275" y="507986"/>
                  </a:cubicBezTo>
                  <a:cubicBezTo>
                    <a:pt x="1423056" y="514205"/>
                    <a:pt x="1414622" y="517699"/>
                    <a:pt x="1405827" y="517699"/>
                  </a:cubicBezTo>
                  <a:lnTo>
                    <a:pt x="33160" y="517699"/>
                  </a:lnTo>
                  <a:cubicBezTo>
                    <a:pt x="24366" y="517699"/>
                    <a:pt x="15931" y="514205"/>
                    <a:pt x="9712" y="507986"/>
                  </a:cubicBezTo>
                  <a:cubicBezTo>
                    <a:pt x="3494" y="501767"/>
                    <a:pt x="0" y="493333"/>
                    <a:pt x="0" y="484538"/>
                  </a:cubicBezTo>
                  <a:lnTo>
                    <a:pt x="0" y="33160"/>
                  </a:lnTo>
                  <a:cubicBezTo>
                    <a:pt x="0" y="24366"/>
                    <a:pt x="3494" y="15931"/>
                    <a:pt x="9712" y="9712"/>
                  </a:cubicBezTo>
                  <a:cubicBezTo>
                    <a:pt x="15931" y="3494"/>
                    <a:pt x="24366" y="0"/>
                    <a:pt x="33160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0"/>
              <a:ext cx="1438987" cy="6129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79"/>
                </a:lnSpc>
              </a:pPr>
              <a:r>
                <a:rPr lang="en-US" sz="4199">
                  <a:solidFill>
                    <a:srgbClr val="00000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Student</a:t>
              </a:r>
            </a:p>
            <a:p>
              <a:pPr algn="ctr">
                <a:lnSpc>
                  <a:spcPts val="5879"/>
                </a:lnSpc>
              </a:pPr>
              <a:r>
                <a:rPr lang="en-US" sz="4199">
                  <a:solidFill>
                    <a:srgbClr val="00000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detail&amp; photo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302898" y="6790773"/>
            <a:ext cx="4559934" cy="1640509"/>
            <a:chOff x="0" y="0"/>
            <a:chExt cx="1438987" cy="51769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38987" cy="517699"/>
            </a:xfrm>
            <a:custGeom>
              <a:avLst/>
              <a:gdLst/>
              <a:ahLst/>
              <a:cxnLst/>
              <a:rect r="r" b="b" t="t" l="l"/>
              <a:pathLst>
                <a:path h="517699" w="1438987">
                  <a:moveTo>
                    <a:pt x="33160" y="0"/>
                  </a:moveTo>
                  <a:lnTo>
                    <a:pt x="1405827" y="0"/>
                  </a:lnTo>
                  <a:cubicBezTo>
                    <a:pt x="1414622" y="0"/>
                    <a:pt x="1423056" y="3494"/>
                    <a:pt x="1429275" y="9712"/>
                  </a:cubicBezTo>
                  <a:cubicBezTo>
                    <a:pt x="1435494" y="15931"/>
                    <a:pt x="1438987" y="24366"/>
                    <a:pt x="1438987" y="33160"/>
                  </a:cubicBezTo>
                  <a:lnTo>
                    <a:pt x="1438987" y="484538"/>
                  </a:lnTo>
                  <a:cubicBezTo>
                    <a:pt x="1438987" y="493333"/>
                    <a:pt x="1435494" y="501767"/>
                    <a:pt x="1429275" y="507986"/>
                  </a:cubicBezTo>
                  <a:cubicBezTo>
                    <a:pt x="1423056" y="514205"/>
                    <a:pt x="1414622" y="517699"/>
                    <a:pt x="1405827" y="517699"/>
                  </a:cubicBezTo>
                  <a:lnTo>
                    <a:pt x="33160" y="517699"/>
                  </a:lnTo>
                  <a:cubicBezTo>
                    <a:pt x="24366" y="517699"/>
                    <a:pt x="15931" y="514205"/>
                    <a:pt x="9712" y="507986"/>
                  </a:cubicBezTo>
                  <a:cubicBezTo>
                    <a:pt x="3494" y="501767"/>
                    <a:pt x="0" y="493333"/>
                    <a:pt x="0" y="484538"/>
                  </a:cubicBezTo>
                  <a:lnTo>
                    <a:pt x="0" y="33160"/>
                  </a:lnTo>
                  <a:cubicBezTo>
                    <a:pt x="0" y="24366"/>
                    <a:pt x="3494" y="15931"/>
                    <a:pt x="9712" y="9712"/>
                  </a:cubicBezTo>
                  <a:cubicBezTo>
                    <a:pt x="15931" y="3494"/>
                    <a:pt x="24366" y="0"/>
                    <a:pt x="33160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0"/>
              <a:ext cx="1438987" cy="6129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79"/>
                </a:lnSpc>
              </a:pPr>
              <a:r>
                <a:rPr lang="en-US" sz="4199">
                  <a:solidFill>
                    <a:srgbClr val="00000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extract face embedding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-5400000">
            <a:off x="2083961" y="8412531"/>
            <a:ext cx="927617" cy="763920"/>
            <a:chOff x="0" y="0"/>
            <a:chExt cx="647700" cy="533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47700" cy="533400"/>
            </a:xfrm>
            <a:custGeom>
              <a:avLst/>
              <a:gdLst/>
              <a:ahLst/>
              <a:cxnLst/>
              <a:rect r="r" b="b" t="t" l="l"/>
              <a:pathLst>
                <a:path h="533400" w="6477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120650" y="117475"/>
              <a:ext cx="527050" cy="250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60150" y="9258300"/>
            <a:ext cx="2375238" cy="1014844"/>
            <a:chOff x="0" y="0"/>
            <a:chExt cx="980902" cy="4191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80902" cy="419100"/>
            </a:xfrm>
            <a:custGeom>
              <a:avLst/>
              <a:gdLst/>
              <a:ahLst/>
              <a:cxnLst/>
              <a:rect r="r" b="b" t="t" l="l"/>
              <a:pathLst>
                <a:path h="419100" w="980902">
                  <a:moveTo>
                    <a:pt x="63661" y="0"/>
                  </a:moveTo>
                  <a:lnTo>
                    <a:pt x="917241" y="0"/>
                  </a:lnTo>
                  <a:cubicBezTo>
                    <a:pt x="934125" y="0"/>
                    <a:pt x="950317" y="6707"/>
                    <a:pt x="962256" y="18646"/>
                  </a:cubicBezTo>
                  <a:cubicBezTo>
                    <a:pt x="974195" y="30584"/>
                    <a:pt x="980902" y="46777"/>
                    <a:pt x="980902" y="63661"/>
                  </a:cubicBezTo>
                  <a:lnTo>
                    <a:pt x="980902" y="355439"/>
                  </a:lnTo>
                  <a:cubicBezTo>
                    <a:pt x="980902" y="372323"/>
                    <a:pt x="974195" y="388516"/>
                    <a:pt x="962256" y="400454"/>
                  </a:cubicBezTo>
                  <a:cubicBezTo>
                    <a:pt x="950317" y="412393"/>
                    <a:pt x="934125" y="419100"/>
                    <a:pt x="917241" y="419100"/>
                  </a:cubicBezTo>
                  <a:lnTo>
                    <a:pt x="63661" y="419100"/>
                  </a:lnTo>
                  <a:cubicBezTo>
                    <a:pt x="46777" y="419100"/>
                    <a:pt x="30584" y="412393"/>
                    <a:pt x="18646" y="400454"/>
                  </a:cubicBezTo>
                  <a:cubicBezTo>
                    <a:pt x="6707" y="388516"/>
                    <a:pt x="0" y="372323"/>
                    <a:pt x="0" y="355439"/>
                  </a:cubicBezTo>
                  <a:lnTo>
                    <a:pt x="0" y="63661"/>
                  </a:lnTo>
                  <a:cubicBezTo>
                    <a:pt x="0" y="46777"/>
                    <a:pt x="6707" y="30584"/>
                    <a:pt x="18646" y="18646"/>
                  </a:cubicBezTo>
                  <a:cubicBezTo>
                    <a:pt x="30584" y="6707"/>
                    <a:pt x="46777" y="0"/>
                    <a:pt x="63661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0"/>
              <a:ext cx="980902" cy="514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79"/>
                </a:lnSpc>
              </a:pPr>
              <a:r>
                <a:rPr lang="en-US" sz="4199">
                  <a:solidFill>
                    <a:srgbClr val="00000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 store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-5400000">
            <a:off x="2119056" y="6045603"/>
            <a:ext cx="927617" cy="763920"/>
            <a:chOff x="0" y="0"/>
            <a:chExt cx="647700" cy="533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47700" cy="533400"/>
            </a:xfrm>
            <a:custGeom>
              <a:avLst/>
              <a:gdLst/>
              <a:ahLst/>
              <a:cxnLst/>
              <a:rect r="r" b="b" t="t" l="l"/>
              <a:pathLst>
                <a:path h="533400" w="6477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120650" y="117475"/>
              <a:ext cx="527050" cy="250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718869" y="1755120"/>
            <a:ext cx="4115565" cy="1640509"/>
            <a:chOff x="0" y="0"/>
            <a:chExt cx="1298757" cy="51769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98757" cy="517699"/>
            </a:xfrm>
            <a:custGeom>
              <a:avLst/>
              <a:gdLst/>
              <a:ahLst/>
              <a:cxnLst/>
              <a:rect r="r" b="b" t="t" l="l"/>
              <a:pathLst>
                <a:path h="517699" w="1298757">
                  <a:moveTo>
                    <a:pt x="36741" y="0"/>
                  </a:moveTo>
                  <a:lnTo>
                    <a:pt x="1262016" y="0"/>
                  </a:lnTo>
                  <a:cubicBezTo>
                    <a:pt x="1271760" y="0"/>
                    <a:pt x="1281106" y="3871"/>
                    <a:pt x="1287996" y="10761"/>
                  </a:cubicBezTo>
                  <a:cubicBezTo>
                    <a:pt x="1294886" y="17651"/>
                    <a:pt x="1298757" y="26997"/>
                    <a:pt x="1298757" y="36741"/>
                  </a:cubicBezTo>
                  <a:lnTo>
                    <a:pt x="1298757" y="480958"/>
                  </a:lnTo>
                  <a:cubicBezTo>
                    <a:pt x="1298757" y="490702"/>
                    <a:pt x="1294886" y="500047"/>
                    <a:pt x="1287996" y="506937"/>
                  </a:cubicBezTo>
                  <a:cubicBezTo>
                    <a:pt x="1281106" y="513828"/>
                    <a:pt x="1271760" y="517699"/>
                    <a:pt x="1262016" y="517699"/>
                  </a:cubicBezTo>
                  <a:lnTo>
                    <a:pt x="36741" y="517699"/>
                  </a:lnTo>
                  <a:cubicBezTo>
                    <a:pt x="26997" y="517699"/>
                    <a:pt x="17651" y="513828"/>
                    <a:pt x="10761" y="506937"/>
                  </a:cubicBezTo>
                  <a:cubicBezTo>
                    <a:pt x="3871" y="500047"/>
                    <a:pt x="0" y="490702"/>
                    <a:pt x="0" y="480958"/>
                  </a:cubicBezTo>
                  <a:lnTo>
                    <a:pt x="0" y="36741"/>
                  </a:lnTo>
                  <a:cubicBezTo>
                    <a:pt x="0" y="26997"/>
                    <a:pt x="3871" y="17651"/>
                    <a:pt x="10761" y="10761"/>
                  </a:cubicBezTo>
                  <a:cubicBezTo>
                    <a:pt x="17651" y="3871"/>
                    <a:pt x="26997" y="0"/>
                    <a:pt x="36741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0"/>
              <a:ext cx="1298757" cy="6129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79"/>
                </a:lnSpc>
              </a:pPr>
              <a:r>
                <a:rPr lang="en-US" sz="4199">
                  <a:solidFill>
                    <a:srgbClr val="00000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Attendance Capture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-5400000">
            <a:off x="14623252" y="3477477"/>
            <a:ext cx="927617" cy="763920"/>
            <a:chOff x="0" y="0"/>
            <a:chExt cx="647700" cy="533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47700" cy="533400"/>
            </a:xfrm>
            <a:custGeom>
              <a:avLst/>
              <a:gdLst/>
              <a:ahLst/>
              <a:cxnLst/>
              <a:rect r="r" b="b" t="t" l="l"/>
              <a:pathLst>
                <a:path h="533400" w="6477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120650" y="117475"/>
              <a:ext cx="527050" cy="250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496685" y="4145498"/>
            <a:ext cx="4559934" cy="1640509"/>
            <a:chOff x="0" y="0"/>
            <a:chExt cx="1438987" cy="51769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438987" cy="517699"/>
            </a:xfrm>
            <a:custGeom>
              <a:avLst/>
              <a:gdLst/>
              <a:ahLst/>
              <a:cxnLst/>
              <a:rect r="r" b="b" t="t" l="l"/>
              <a:pathLst>
                <a:path h="517699" w="1438987">
                  <a:moveTo>
                    <a:pt x="33160" y="0"/>
                  </a:moveTo>
                  <a:lnTo>
                    <a:pt x="1405827" y="0"/>
                  </a:lnTo>
                  <a:cubicBezTo>
                    <a:pt x="1414622" y="0"/>
                    <a:pt x="1423056" y="3494"/>
                    <a:pt x="1429275" y="9712"/>
                  </a:cubicBezTo>
                  <a:cubicBezTo>
                    <a:pt x="1435494" y="15931"/>
                    <a:pt x="1438987" y="24366"/>
                    <a:pt x="1438987" y="33160"/>
                  </a:cubicBezTo>
                  <a:lnTo>
                    <a:pt x="1438987" y="484538"/>
                  </a:lnTo>
                  <a:cubicBezTo>
                    <a:pt x="1438987" y="493333"/>
                    <a:pt x="1435494" y="501767"/>
                    <a:pt x="1429275" y="507986"/>
                  </a:cubicBezTo>
                  <a:cubicBezTo>
                    <a:pt x="1423056" y="514205"/>
                    <a:pt x="1414622" y="517699"/>
                    <a:pt x="1405827" y="517699"/>
                  </a:cubicBezTo>
                  <a:lnTo>
                    <a:pt x="33160" y="517699"/>
                  </a:lnTo>
                  <a:cubicBezTo>
                    <a:pt x="24366" y="517699"/>
                    <a:pt x="15931" y="514205"/>
                    <a:pt x="9712" y="507986"/>
                  </a:cubicBezTo>
                  <a:cubicBezTo>
                    <a:pt x="3494" y="501767"/>
                    <a:pt x="0" y="493333"/>
                    <a:pt x="0" y="484538"/>
                  </a:cubicBezTo>
                  <a:lnTo>
                    <a:pt x="0" y="33160"/>
                  </a:lnTo>
                  <a:cubicBezTo>
                    <a:pt x="0" y="24366"/>
                    <a:pt x="3494" y="15931"/>
                    <a:pt x="9712" y="9712"/>
                  </a:cubicBezTo>
                  <a:cubicBezTo>
                    <a:pt x="15931" y="3494"/>
                    <a:pt x="24366" y="0"/>
                    <a:pt x="33160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0"/>
              <a:ext cx="1438987" cy="6129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79"/>
                </a:lnSpc>
              </a:pPr>
              <a:r>
                <a:rPr lang="en-US" sz="4199">
                  <a:solidFill>
                    <a:srgbClr val="00000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live webcam feed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-5400000">
            <a:off x="8312843" y="5581794"/>
            <a:ext cx="927617" cy="763920"/>
            <a:chOff x="0" y="0"/>
            <a:chExt cx="647700" cy="5334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47700" cy="533400"/>
            </a:xfrm>
            <a:custGeom>
              <a:avLst/>
              <a:gdLst/>
              <a:ahLst/>
              <a:cxnLst/>
              <a:rect r="r" b="b" t="t" l="l"/>
              <a:pathLst>
                <a:path h="533400" w="6477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120650" y="117475"/>
              <a:ext cx="527050" cy="250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6482073" y="6427563"/>
            <a:ext cx="4559934" cy="1183464"/>
            <a:chOff x="0" y="0"/>
            <a:chExt cx="1438987" cy="37346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438987" cy="373468"/>
            </a:xfrm>
            <a:custGeom>
              <a:avLst/>
              <a:gdLst/>
              <a:ahLst/>
              <a:cxnLst/>
              <a:rect r="r" b="b" t="t" l="l"/>
              <a:pathLst>
                <a:path h="373468" w="1438987">
                  <a:moveTo>
                    <a:pt x="33160" y="0"/>
                  </a:moveTo>
                  <a:lnTo>
                    <a:pt x="1405827" y="0"/>
                  </a:lnTo>
                  <a:cubicBezTo>
                    <a:pt x="1414622" y="0"/>
                    <a:pt x="1423056" y="3494"/>
                    <a:pt x="1429275" y="9712"/>
                  </a:cubicBezTo>
                  <a:cubicBezTo>
                    <a:pt x="1435494" y="15931"/>
                    <a:pt x="1438987" y="24366"/>
                    <a:pt x="1438987" y="33160"/>
                  </a:cubicBezTo>
                  <a:lnTo>
                    <a:pt x="1438987" y="340308"/>
                  </a:lnTo>
                  <a:cubicBezTo>
                    <a:pt x="1438987" y="349102"/>
                    <a:pt x="1435494" y="357537"/>
                    <a:pt x="1429275" y="363756"/>
                  </a:cubicBezTo>
                  <a:cubicBezTo>
                    <a:pt x="1423056" y="369975"/>
                    <a:pt x="1414622" y="373468"/>
                    <a:pt x="1405827" y="373468"/>
                  </a:cubicBezTo>
                  <a:lnTo>
                    <a:pt x="33160" y="373468"/>
                  </a:lnTo>
                  <a:cubicBezTo>
                    <a:pt x="24366" y="373468"/>
                    <a:pt x="15931" y="369975"/>
                    <a:pt x="9712" y="363756"/>
                  </a:cubicBezTo>
                  <a:cubicBezTo>
                    <a:pt x="3494" y="357537"/>
                    <a:pt x="0" y="349102"/>
                    <a:pt x="0" y="340308"/>
                  </a:cubicBezTo>
                  <a:lnTo>
                    <a:pt x="0" y="33160"/>
                  </a:lnTo>
                  <a:cubicBezTo>
                    <a:pt x="0" y="24366"/>
                    <a:pt x="3494" y="15931"/>
                    <a:pt x="9712" y="9712"/>
                  </a:cubicBezTo>
                  <a:cubicBezTo>
                    <a:pt x="15931" y="3494"/>
                    <a:pt x="24366" y="0"/>
                    <a:pt x="33160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0"/>
              <a:ext cx="1438987" cy="4687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79"/>
                </a:lnSpc>
              </a:pPr>
              <a:r>
                <a:rPr lang="en-US" sz="4199">
                  <a:solidFill>
                    <a:srgbClr val="00000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match faces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-5400000">
            <a:off x="8312843" y="7692876"/>
            <a:ext cx="927617" cy="763920"/>
            <a:chOff x="0" y="0"/>
            <a:chExt cx="647700" cy="5334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47700" cy="533400"/>
            </a:xfrm>
            <a:custGeom>
              <a:avLst/>
              <a:gdLst/>
              <a:ahLst/>
              <a:cxnLst/>
              <a:rect r="r" b="b" t="t" l="l"/>
              <a:pathLst>
                <a:path h="533400" w="6477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120650" y="117475"/>
              <a:ext cx="527050" cy="250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6171015" y="8582258"/>
            <a:ext cx="5182050" cy="1183464"/>
            <a:chOff x="0" y="0"/>
            <a:chExt cx="1635310" cy="37346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635310" cy="373468"/>
            </a:xfrm>
            <a:custGeom>
              <a:avLst/>
              <a:gdLst/>
              <a:ahLst/>
              <a:cxnLst/>
              <a:rect r="r" b="b" t="t" l="l"/>
              <a:pathLst>
                <a:path h="373468" w="1635310">
                  <a:moveTo>
                    <a:pt x="29179" y="0"/>
                  </a:moveTo>
                  <a:lnTo>
                    <a:pt x="1606131" y="0"/>
                  </a:lnTo>
                  <a:cubicBezTo>
                    <a:pt x="1613870" y="0"/>
                    <a:pt x="1621291" y="3074"/>
                    <a:pt x="1626764" y="8546"/>
                  </a:cubicBezTo>
                  <a:cubicBezTo>
                    <a:pt x="1632236" y="14019"/>
                    <a:pt x="1635310" y="21441"/>
                    <a:pt x="1635310" y="29179"/>
                  </a:cubicBezTo>
                  <a:lnTo>
                    <a:pt x="1635310" y="344289"/>
                  </a:lnTo>
                  <a:cubicBezTo>
                    <a:pt x="1635310" y="352028"/>
                    <a:pt x="1632236" y="359450"/>
                    <a:pt x="1626764" y="364922"/>
                  </a:cubicBezTo>
                  <a:cubicBezTo>
                    <a:pt x="1621291" y="370394"/>
                    <a:pt x="1613870" y="373468"/>
                    <a:pt x="1606131" y="373468"/>
                  </a:cubicBezTo>
                  <a:lnTo>
                    <a:pt x="29179" y="373468"/>
                  </a:lnTo>
                  <a:cubicBezTo>
                    <a:pt x="21441" y="373468"/>
                    <a:pt x="14019" y="370394"/>
                    <a:pt x="8546" y="364922"/>
                  </a:cubicBezTo>
                  <a:cubicBezTo>
                    <a:pt x="3074" y="359450"/>
                    <a:pt x="0" y="352028"/>
                    <a:pt x="0" y="344289"/>
                  </a:cubicBezTo>
                  <a:lnTo>
                    <a:pt x="0" y="29179"/>
                  </a:lnTo>
                  <a:cubicBezTo>
                    <a:pt x="0" y="21441"/>
                    <a:pt x="3074" y="14019"/>
                    <a:pt x="8546" y="8546"/>
                  </a:cubicBezTo>
                  <a:cubicBezTo>
                    <a:pt x="14019" y="3074"/>
                    <a:pt x="21441" y="0"/>
                    <a:pt x="29179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0"/>
              <a:ext cx="1635310" cy="4687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79"/>
                </a:lnSpc>
              </a:pPr>
              <a:r>
                <a:rPr lang="en-US" sz="4199">
                  <a:solidFill>
                    <a:srgbClr val="00000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mark attendance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2647319" y="1755120"/>
            <a:ext cx="4115565" cy="1640509"/>
            <a:chOff x="0" y="0"/>
            <a:chExt cx="1298757" cy="517699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298757" cy="517699"/>
            </a:xfrm>
            <a:custGeom>
              <a:avLst/>
              <a:gdLst/>
              <a:ahLst/>
              <a:cxnLst/>
              <a:rect r="r" b="b" t="t" l="l"/>
              <a:pathLst>
                <a:path h="517699" w="1298757">
                  <a:moveTo>
                    <a:pt x="36741" y="0"/>
                  </a:moveTo>
                  <a:lnTo>
                    <a:pt x="1262016" y="0"/>
                  </a:lnTo>
                  <a:cubicBezTo>
                    <a:pt x="1271760" y="0"/>
                    <a:pt x="1281106" y="3871"/>
                    <a:pt x="1287996" y="10761"/>
                  </a:cubicBezTo>
                  <a:cubicBezTo>
                    <a:pt x="1294886" y="17651"/>
                    <a:pt x="1298757" y="26997"/>
                    <a:pt x="1298757" y="36741"/>
                  </a:cubicBezTo>
                  <a:lnTo>
                    <a:pt x="1298757" y="480958"/>
                  </a:lnTo>
                  <a:cubicBezTo>
                    <a:pt x="1298757" y="490702"/>
                    <a:pt x="1294886" y="500047"/>
                    <a:pt x="1287996" y="506937"/>
                  </a:cubicBezTo>
                  <a:cubicBezTo>
                    <a:pt x="1281106" y="513828"/>
                    <a:pt x="1271760" y="517699"/>
                    <a:pt x="1262016" y="517699"/>
                  </a:cubicBezTo>
                  <a:lnTo>
                    <a:pt x="36741" y="517699"/>
                  </a:lnTo>
                  <a:cubicBezTo>
                    <a:pt x="26997" y="517699"/>
                    <a:pt x="17651" y="513828"/>
                    <a:pt x="10761" y="506937"/>
                  </a:cubicBezTo>
                  <a:cubicBezTo>
                    <a:pt x="3871" y="500047"/>
                    <a:pt x="0" y="490702"/>
                    <a:pt x="0" y="480958"/>
                  </a:cubicBezTo>
                  <a:lnTo>
                    <a:pt x="0" y="36741"/>
                  </a:lnTo>
                  <a:cubicBezTo>
                    <a:pt x="0" y="26997"/>
                    <a:pt x="3871" y="17651"/>
                    <a:pt x="10761" y="10761"/>
                  </a:cubicBezTo>
                  <a:cubicBezTo>
                    <a:pt x="17651" y="3871"/>
                    <a:pt x="26997" y="0"/>
                    <a:pt x="36741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0"/>
              <a:ext cx="1298757" cy="6129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79"/>
                </a:lnSpc>
              </a:pPr>
              <a:r>
                <a:rPr lang="en-US" sz="4199">
                  <a:solidFill>
                    <a:srgbClr val="00000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Reports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-5400000">
            <a:off x="8298231" y="3252105"/>
            <a:ext cx="927617" cy="763920"/>
            <a:chOff x="0" y="0"/>
            <a:chExt cx="647700" cy="5334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47700" cy="533400"/>
            </a:xfrm>
            <a:custGeom>
              <a:avLst/>
              <a:gdLst/>
              <a:ahLst/>
              <a:cxnLst/>
              <a:rect r="r" b="b" t="t" l="l"/>
              <a:pathLst>
                <a:path h="533400" w="6477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120650" y="117475"/>
              <a:ext cx="527050" cy="250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2807094" y="4323246"/>
            <a:ext cx="4559934" cy="1640509"/>
            <a:chOff x="0" y="0"/>
            <a:chExt cx="1438987" cy="517699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438987" cy="517699"/>
            </a:xfrm>
            <a:custGeom>
              <a:avLst/>
              <a:gdLst/>
              <a:ahLst/>
              <a:cxnLst/>
              <a:rect r="r" b="b" t="t" l="l"/>
              <a:pathLst>
                <a:path h="517699" w="1438987">
                  <a:moveTo>
                    <a:pt x="33160" y="0"/>
                  </a:moveTo>
                  <a:lnTo>
                    <a:pt x="1405827" y="0"/>
                  </a:lnTo>
                  <a:cubicBezTo>
                    <a:pt x="1414622" y="0"/>
                    <a:pt x="1423056" y="3494"/>
                    <a:pt x="1429275" y="9712"/>
                  </a:cubicBezTo>
                  <a:cubicBezTo>
                    <a:pt x="1435494" y="15931"/>
                    <a:pt x="1438987" y="24366"/>
                    <a:pt x="1438987" y="33160"/>
                  </a:cubicBezTo>
                  <a:lnTo>
                    <a:pt x="1438987" y="484538"/>
                  </a:lnTo>
                  <a:cubicBezTo>
                    <a:pt x="1438987" y="493333"/>
                    <a:pt x="1435494" y="501767"/>
                    <a:pt x="1429275" y="507986"/>
                  </a:cubicBezTo>
                  <a:cubicBezTo>
                    <a:pt x="1423056" y="514205"/>
                    <a:pt x="1414622" y="517699"/>
                    <a:pt x="1405827" y="517699"/>
                  </a:cubicBezTo>
                  <a:lnTo>
                    <a:pt x="33160" y="517699"/>
                  </a:lnTo>
                  <a:cubicBezTo>
                    <a:pt x="24366" y="517699"/>
                    <a:pt x="15931" y="514205"/>
                    <a:pt x="9712" y="507986"/>
                  </a:cubicBezTo>
                  <a:cubicBezTo>
                    <a:pt x="3494" y="501767"/>
                    <a:pt x="0" y="493333"/>
                    <a:pt x="0" y="484538"/>
                  </a:cubicBezTo>
                  <a:lnTo>
                    <a:pt x="0" y="33160"/>
                  </a:lnTo>
                  <a:cubicBezTo>
                    <a:pt x="0" y="24366"/>
                    <a:pt x="3494" y="15931"/>
                    <a:pt x="9712" y="9712"/>
                  </a:cubicBezTo>
                  <a:cubicBezTo>
                    <a:pt x="15931" y="3494"/>
                    <a:pt x="24366" y="0"/>
                    <a:pt x="33160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95250"/>
              <a:ext cx="1438987" cy="6129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79"/>
                </a:lnSpc>
              </a:pPr>
              <a:r>
                <a:rPr lang="en-US" sz="4199">
                  <a:solidFill>
                    <a:srgbClr val="00000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generate CSV &amp;charts 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-5400000">
            <a:off x="14623252" y="6045603"/>
            <a:ext cx="927617" cy="763920"/>
            <a:chOff x="0" y="0"/>
            <a:chExt cx="647700" cy="5334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47700" cy="533400"/>
            </a:xfrm>
            <a:custGeom>
              <a:avLst/>
              <a:gdLst/>
              <a:ahLst/>
              <a:cxnLst/>
              <a:rect r="r" b="b" t="t" l="l"/>
              <a:pathLst>
                <a:path h="533400" w="6477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60" id="60"/>
            <p:cNvSpPr txBox="true"/>
            <p:nvPr/>
          </p:nvSpPr>
          <p:spPr>
            <a:xfrm>
              <a:off x="120650" y="117475"/>
              <a:ext cx="527050" cy="250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2807094" y="6941749"/>
            <a:ext cx="4559934" cy="1640509"/>
            <a:chOff x="0" y="0"/>
            <a:chExt cx="1438987" cy="517699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438987" cy="517699"/>
            </a:xfrm>
            <a:custGeom>
              <a:avLst/>
              <a:gdLst/>
              <a:ahLst/>
              <a:cxnLst/>
              <a:rect r="r" b="b" t="t" l="l"/>
              <a:pathLst>
                <a:path h="517699" w="1438987">
                  <a:moveTo>
                    <a:pt x="33160" y="0"/>
                  </a:moveTo>
                  <a:lnTo>
                    <a:pt x="1405827" y="0"/>
                  </a:lnTo>
                  <a:cubicBezTo>
                    <a:pt x="1414622" y="0"/>
                    <a:pt x="1423056" y="3494"/>
                    <a:pt x="1429275" y="9712"/>
                  </a:cubicBezTo>
                  <a:cubicBezTo>
                    <a:pt x="1435494" y="15931"/>
                    <a:pt x="1438987" y="24366"/>
                    <a:pt x="1438987" y="33160"/>
                  </a:cubicBezTo>
                  <a:lnTo>
                    <a:pt x="1438987" y="484538"/>
                  </a:lnTo>
                  <a:cubicBezTo>
                    <a:pt x="1438987" y="493333"/>
                    <a:pt x="1435494" y="501767"/>
                    <a:pt x="1429275" y="507986"/>
                  </a:cubicBezTo>
                  <a:cubicBezTo>
                    <a:pt x="1423056" y="514205"/>
                    <a:pt x="1414622" y="517699"/>
                    <a:pt x="1405827" y="517699"/>
                  </a:cubicBezTo>
                  <a:lnTo>
                    <a:pt x="33160" y="517699"/>
                  </a:lnTo>
                  <a:cubicBezTo>
                    <a:pt x="24366" y="517699"/>
                    <a:pt x="15931" y="514205"/>
                    <a:pt x="9712" y="507986"/>
                  </a:cubicBezTo>
                  <a:cubicBezTo>
                    <a:pt x="3494" y="501767"/>
                    <a:pt x="0" y="493333"/>
                    <a:pt x="0" y="484538"/>
                  </a:cubicBezTo>
                  <a:lnTo>
                    <a:pt x="0" y="33160"/>
                  </a:lnTo>
                  <a:cubicBezTo>
                    <a:pt x="0" y="24366"/>
                    <a:pt x="3494" y="15931"/>
                    <a:pt x="9712" y="9712"/>
                  </a:cubicBezTo>
                  <a:cubicBezTo>
                    <a:pt x="15931" y="3494"/>
                    <a:pt x="24366" y="0"/>
                    <a:pt x="33160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95250"/>
              <a:ext cx="1438987" cy="6129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79"/>
                </a:lnSpc>
              </a:pPr>
              <a:r>
                <a:rPr lang="en-US" sz="4199">
                  <a:solidFill>
                    <a:srgbClr val="00000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download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816593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874228" y="3048745"/>
            <a:ext cx="4474931" cy="6495305"/>
          </a:xfrm>
          <a:custGeom>
            <a:avLst/>
            <a:gdLst/>
            <a:ahLst/>
            <a:cxnLst/>
            <a:rect r="r" b="b" t="t" l="l"/>
            <a:pathLst>
              <a:path h="6495305" w="4474931">
                <a:moveTo>
                  <a:pt x="0" y="0"/>
                </a:moveTo>
                <a:lnTo>
                  <a:pt x="4474931" y="0"/>
                </a:lnTo>
                <a:lnTo>
                  <a:pt x="4474931" y="6495305"/>
                </a:lnTo>
                <a:lnTo>
                  <a:pt x="0" y="64953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324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03002" y="3048745"/>
            <a:ext cx="4792964" cy="6448578"/>
          </a:xfrm>
          <a:custGeom>
            <a:avLst/>
            <a:gdLst/>
            <a:ahLst/>
            <a:cxnLst/>
            <a:rect r="r" b="b" t="t" l="l"/>
            <a:pathLst>
              <a:path h="6448578" w="4792964">
                <a:moveTo>
                  <a:pt x="0" y="0"/>
                </a:moveTo>
                <a:lnTo>
                  <a:pt x="4792965" y="0"/>
                </a:lnTo>
                <a:lnTo>
                  <a:pt x="4792965" y="6448578"/>
                </a:lnTo>
                <a:lnTo>
                  <a:pt x="0" y="64485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652542" y="3050062"/>
            <a:ext cx="5258463" cy="6714180"/>
          </a:xfrm>
          <a:custGeom>
            <a:avLst/>
            <a:gdLst/>
            <a:ahLst/>
            <a:cxnLst/>
            <a:rect r="r" b="b" t="t" l="l"/>
            <a:pathLst>
              <a:path h="6714180" w="5258463">
                <a:moveTo>
                  <a:pt x="0" y="0"/>
                </a:moveTo>
                <a:lnTo>
                  <a:pt x="5258463" y="0"/>
                </a:lnTo>
                <a:lnTo>
                  <a:pt x="5258463" y="6714180"/>
                </a:lnTo>
                <a:lnTo>
                  <a:pt x="0" y="67141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719" t="0" r="-1465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945778" y="923925"/>
            <a:ext cx="11856899" cy="91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71"/>
              </a:lnSpc>
            </a:pPr>
            <a:r>
              <a:rPr lang="en-US" b="true" sz="540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DEMO SCREENS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03002" y="2042533"/>
            <a:ext cx="4569250" cy="721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91"/>
              </a:lnSpc>
            </a:pPr>
            <a:r>
              <a:rPr lang="en-US" b="true" sz="420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</a:t>
            </a:r>
            <a:r>
              <a:rPr lang="en-US" sz="420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nroll Student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910131" y="2042533"/>
            <a:ext cx="4569250" cy="721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91"/>
              </a:lnSpc>
            </a:pPr>
            <a:r>
              <a:rPr lang="en-US" sz="420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Student Report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816593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790419" y="1803138"/>
            <a:ext cx="16144063" cy="7971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82665" indent="-491332" lvl="1">
              <a:lnSpc>
                <a:spcPts val="6372"/>
              </a:lnSpc>
              <a:buFont typeface="Arial"/>
              <a:buChar char="•"/>
            </a:pPr>
            <a:r>
              <a:rPr lang="en-US" sz="455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(</a:t>
            </a:r>
            <a:r>
              <a:rPr lang="en-US" b="true" sz="4551" u="sng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OPENCV)</a:t>
            </a:r>
            <a:r>
              <a:rPr lang="en-US" sz="455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FACE CAPTURED BY WEBCAM → CONVERTED TO RGB</a:t>
            </a:r>
          </a:p>
          <a:p>
            <a:pPr algn="l" marL="982665" indent="-491332" lvl="1">
              <a:lnSpc>
                <a:spcPts val="6372"/>
              </a:lnSpc>
              <a:buFont typeface="Arial"/>
              <a:buChar char="•"/>
            </a:pPr>
            <a:r>
              <a:rPr lang="en-US" b="true" sz="4551" u="sng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MTCNN </a:t>
            </a:r>
            <a:r>
              <a:rPr lang="en-US" sz="455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DETECTS FACE COORDINATES</a:t>
            </a:r>
          </a:p>
          <a:p>
            <a:pPr algn="l" marL="982665" indent="-491332" lvl="1">
              <a:lnSpc>
                <a:spcPts val="6372"/>
              </a:lnSpc>
              <a:buFont typeface="Arial"/>
              <a:buChar char="•"/>
            </a:pPr>
            <a:r>
              <a:rPr lang="en-US" sz="455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INCEPTIONRESNETV1 GENERATES FACE EMBEDDINGS(</a:t>
            </a:r>
            <a:r>
              <a:rPr lang="en-US" b="true" sz="4551" u="sng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FACENET FACE</a:t>
            </a:r>
            <a:r>
              <a:rPr lang="en-US" b="true" sz="455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)</a:t>
            </a:r>
          </a:p>
          <a:p>
            <a:pPr algn="l" marL="982665" indent="-491332" lvl="1">
              <a:lnSpc>
                <a:spcPts val="6372"/>
              </a:lnSpc>
              <a:buFont typeface="Arial"/>
              <a:buChar char="•"/>
            </a:pPr>
            <a:r>
              <a:rPr lang="en-US" sz="455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COMPARE EMBEDDING WITH STORED EMBEDDINGS</a:t>
            </a:r>
          </a:p>
          <a:p>
            <a:pPr algn="l" marL="982665" indent="-491332" lvl="1">
              <a:lnSpc>
                <a:spcPts val="6372"/>
              </a:lnSpc>
              <a:buFont typeface="Arial"/>
              <a:buChar char="•"/>
            </a:pPr>
            <a:r>
              <a:rPr lang="en-US" sz="455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DISTANCE &lt; THRESHOLD → MARK AS PRESENT (</a:t>
            </a:r>
            <a:r>
              <a:rPr lang="en-US" b="true" sz="4551" u="sng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EUCLIDEAN DISTANCE)</a:t>
            </a:r>
          </a:p>
          <a:p>
            <a:pPr algn="l" marL="982665" indent="-491332" lvl="1">
              <a:lnSpc>
                <a:spcPts val="6372"/>
              </a:lnSpc>
              <a:buFont typeface="Arial"/>
              <a:buChar char="•"/>
            </a:pPr>
            <a:r>
              <a:rPr lang="en-US" sz="455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PREVENT DUPLICATE MARKING</a:t>
            </a:r>
            <a:r>
              <a:rPr lang="en-US" b="true" sz="4551" u="sng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(IN ATTENDANCE SHEETS)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90419" y="528516"/>
            <a:ext cx="10464543" cy="91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571"/>
              </a:lnSpc>
            </a:pPr>
            <a:r>
              <a:rPr lang="en-US" b="true" sz="540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HOW IT WORKS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9525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816593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353287" y="2543752"/>
            <a:ext cx="14781331" cy="3170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72"/>
              </a:lnSpc>
            </a:pPr>
            <a:r>
              <a:rPr lang="en-US" sz="455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The Automatic Face Recognition Attendance System simplifies the process of tracking attendance by using OpenCV and a CNN-based model to identify students in real time.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90419" y="528516"/>
            <a:ext cx="10731165" cy="91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571"/>
              </a:lnSpc>
            </a:pPr>
            <a:r>
              <a:rPr lang="en-US" b="true" sz="540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CONCLUSION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698500" y="3124200"/>
            <a:ext cx="5245100" cy="1332778"/>
            <a:chOff x="0" y="0"/>
            <a:chExt cx="1381426" cy="3510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81426" cy="351020"/>
            </a:xfrm>
            <a:custGeom>
              <a:avLst/>
              <a:gdLst/>
              <a:ahLst/>
              <a:cxnLst/>
              <a:rect r="r" b="b" t="t" l="l"/>
              <a:pathLst>
                <a:path h="351020" w="1381426">
                  <a:moveTo>
                    <a:pt x="75277" y="0"/>
                  </a:moveTo>
                  <a:lnTo>
                    <a:pt x="1306148" y="0"/>
                  </a:lnTo>
                  <a:cubicBezTo>
                    <a:pt x="1326113" y="0"/>
                    <a:pt x="1345260" y="7931"/>
                    <a:pt x="1359377" y="22048"/>
                  </a:cubicBezTo>
                  <a:cubicBezTo>
                    <a:pt x="1373495" y="36166"/>
                    <a:pt x="1381426" y="55313"/>
                    <a:pt x="1381426" y="75277"/>
                  </a:cubicBezTo>
                  <a:lnTo>
                    <a:pt x="1381426" y="275742"/>
                  </a:lnTo>
                  <a:cubicBezTo>
                    <a:pt x="1381426" y="295707"/>
                    <a:pt x="1373495" y="314854"/>
                    <a:pt x="1359377" y="328971"/>
                  </a:cubicBezTo>
                  <a:cubicBezTo>
                    <a:pt x="1345260" y="343089"/>
                    <a:pt x="1326113" y="351020"/>
                    <a:pt x="1306148" y="351020"/>
                  </a:cubicBezTo>
                  <a:lnTo>
                    <a:pt x="75277" y="351020"/>
                  </a:lnTo>
                  <a:cubicBezTo>
                    <a:pt x="55313" y="351020"/>
                    <a:pt x="36166" y="343089"/>
                    <a:pt x="22048" y="328971"/>
                  </a:cubicBezTo>
                  <a:cubicBezTo>
                    <a:pt x="7931" y="314854"/>
                    <a:pt x="0" y="295707"/>
                    <a:pt x="0" y="275742"/>
                  </a:cubicBezTo>
                  <a:lnTo>
                    <a:pt x="0" y="75277"/>
                  </a:lnTo>
                  <a:cubicBezTo>
                    <a:pt x="0" y="55313"/>
                    <a:pt x="7931" y="36166"/>
                    <a:pt x="22048" y="22048"/>
                  </a:cubicBezTo>
                  <a:cubicBezTo>
                    <a:pt x="36166" y="7931"/>
                    <a:pt x="55313" y="0"/>
                    <a:pt x="75277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381426" cy="398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741400" y="3124200"/>
            <a:ext cx="5118100" cy="1332778"/>
            <a:chOff x="0" y="0"/>
            <a:chExt cx="1347977" cy="3510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47977" cy="351020"/>
            </a:xfrm>
            <a:custGeom>
              <a:avLst/>
              <a:gdLst/>
              <a:ahLst/>
              <a:cxnLst/>
              <a:rect r="r" b="b" t="t" l="l"/>
              <a:pathLst>
                <a:path h="351020" w="1347977">
                  <a:moveTo>
                    <a:pt x="77145" y="0"/>
                  </a:moveTo>
                  <a:lnTo>
                    <a:pt x="1270832" y="0"/>
                  </a:lnTo>
                  <a:cubicBezTo>
                    <a:pt x="1291292" y="0"/>
                    <a:pt x="1310914" y="8128"/>
                    <a:pt x="1325382" y="22595"/>
                  </a:cubicBezTo>
                  <a:cubicBezTo>
                    <a:pt x="1339849" y="37063"/>
                    <a:pt x="1347977" y="56685"/>
                    <a:pt x="1347977" y="77145"/>
                  </a:cubicBezTo>
                  <a:lnTo>
                    <a:pt x="1347977" y="273874"/>
                  </a:lnTo>
                  <a:cubicBezTo>
                    <a:pt x="1347977" y="316480"/>
                    <a:pt x="1313438" y="351020"/>
                    <a:pt x="1270832" y="351020"/>
                  </a:cubicBezTo>
                  <a:lnTo>
                    <a:pt x="77145" y="351020"/>
                  </a:lnTo>
                  <a:cubicBezTo>
                    <a:pt x="34539" y="351020"/>
                    <a:pt x="0" y="316480"/>
                    <a:pt x="0" y="273874"/>
                  </a:cubicBezTo>
                  <a:lnTo>
                    <a:pt x="0" y="77145"/>
                  </a:lnTo>
                  <a:cubicBezTo>
                    <a:pt x="0" y="34539"/>
                    <a:pt x="34539" y="0"/>
                    <a:pt x="77145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347977" cy="398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4933297" y="3191597"/>
            <a:ext cx="8421405" cy="1265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34"/>
              </a:lnSpc>
            </a:pPr>
            <a:r>
              <a:rPr lang="en-US" b="true" sz="7382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616825" y="6705600"/>
            <a:ext cx="3054350" cy="761278"/>
            <a:chOff x="0" y="0"/>
            <a:chExt cx="804438" cy="20050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04438" cy="200501"/>
            </a:xfrm>
            <a:custGeom>
              <a:avLst/>
              <a:gdLst/>
              <a:ahLst/>
              <a:cxnLst/>
              <a:rect r="r" b="b" t="t" l="l"/>
              <a:pathLst>
                <a:path h="200501" w="804438">
                  <a:moveTo>
                    <a:pt x="100251" y="0"/>
                  </a:moveTo>
                  <a:lnTo>
                    <a:pt x="704187" y="0"/>
                  </a:lnTo>
                  <a:cubicBezTo>
                    <a:pt x="730775" y="0"/>
                    <a:pt x="756275" y="10562"/>
                    <a:pt x="775075" y="29363"/>
                  </a:cubicBezTo>
                  <a:cubicBezTo>
                    <a:pt x="793876" y="48163"/>
                    <a:pt x="804438" y="73662"/>
                    <a:pt x="804438" y="100251"/>
                  </a:cubicBezTo>
                  <a:lnTo>
                    <a:pt x="804438" y="100251"/>
                  </a:lnTo>
                  <a:cubicBezTo>
                    <a:pt x="804438" y="155617"/>
                    <a:pt x="759554" y="200501"/>
                    <a:pt x="704187" y="200501"/>
                  </a:cubicBezTo>
                  <a:lnTo>
                    <a:pt x="100251" y="200501"/>
                  </a:lnTo>
                  <a:cubicBezTo>
                    <a:pt x="44884" y="200501"/>
                    <a:pt x="0" y="155617"/>
                    <a:pt x="0" y="100251"/>
                  </a:cubicBezTo>
                  <a:lnTo>
                    <a:pt x="0" y="100251"/>
                  </a:lnTo>
                  <a:cubicBezTo>
                    <a:pt x="0" y="44884"/>
                    <a:pt x="44884" y="0"/>
                    <a:pt x="100251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804438" cy="2481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5315179" y="8622662"/>
            <a:ext cx="6317865" cy="635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27"/>
              </a:lnSpc>
              <a:spcBef>
                <a:spcPct val="0"/>
              </a:spcBef>
            </a:pPr>
            <a:r>
              <a:rPr lang="en-US" sz="3733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Ajay B.K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DAG5wraoWbI</dc:identifier>
  <dcterms:modified xsi:type="dcterms:W3CDTF">2011-08-01T06:04:30Z</dcterms:modified>
  <cp:revision>1</cp:revision>
  <dc:title>Blue &amp; white company profile presentation</dc:title>
</cp:coreProperties>
</file>